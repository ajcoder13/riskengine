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SLIDE 1 • TITLE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RiskEngine: AI/NLP Financial Risk Quantification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CA3AF"/>
                </a:solidFill>
              </a:defRPr>
            </a:pPr>
            <a:r>
              <a:t>Transforming Unstructured News &amp; Social Streams into Actionable Quantitative Risk Signals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698480" cy="4297680"/>
          </a:xfrm>
          <a:prstGeom prst="roundRect">
            <a:avLst/>
          </a:prstGeom>
          <a:solidFill>
            <a:srgbClr val="11182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60A5FA"/>
                </a:solidFill>
              </a:defRPr>
            </a:pPr>
            <a:r>
              <a:t>Candidate Name: Avni Jhalani</a:t>
            </a:r>
          </a:p>
          <a:p>
            <a:pPr>
              <a:spcAft>
                <a:spcPts val="600"/>
              </a:spcAft>
              <a:defRPr sz="1200" b="1">
                <a:solidFill>
                  <a:srgbClr val="60A5FA"/>
                </a:solidFill>
              </a:defRPr>
            </a:pPr>
            <a:r>
              <a:t>Competition: S&amp;P Global &amp; Crisil Campus Hackathon 2026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</a:defRPr>
            </a:pPr>
            <a:r>
              <a:t>Core Implementations: Hybrid NLP Pipeline + Module A (Index Rebalancing) + Module B (Stress Testing)</a:t>
            </a:r>
          </a:p>
          <a:p>
            <a:pPr>
              <a:spcAft>
                <a:spcPts val="600"/>
              </a:spcAft>
              <a:defRPr sz="1200" b="1">
                <a:solidFill>
                  <a:srgbClr val="60A5FA"/>
                </a:solidFill>
              </a:defRPr>
            </a:pPr>
            <a:r>
              <a:t>Test Suite: 165 passing automated unit &amp; integration tests</a:t>
            </a:r>
          </a:p>
          <a:p>
            <a:pPr>
              <a:spcAft>
                <a:spcPts val="600"/>
              </a:spcAft>
              <a:defRPr sz="1200" b="1">
                <a:solidFill>
                  <a:srgbClr val="60A5FA"/>
                </a:solidFill>
              </a:defRPr>
            </a:pPr>
            <a:r>
              <a:t>Repository: Complete end-to-end self-contained prototype (FastAPI backend + React 18 frontend)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SLIDE 2 • PROBLEM &amp;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Problem Statement &amp; Strategic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CA3AF"/>
                </a:solidFill>
              </a:defRPr>
            </a:pPr>
            <a:r>
              <a:t>Moving Beyond Naive Sentiment Scores to Institutional Financial Risk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698480" cy="4297680"/>
          </a:xfrm>
          <a:prstGeom prst="roundRect">
            <a:avLst/>
          </a:prstGeom>
          <a:solidFill>
            <a:srgbClr val="11182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F3F4F6"/>
                </a:solidFill>
              </a:defRPr>
            </a:pPr>
            <a:r>
              <a:t>The Industry Dilemma: Financial institutions process millions of unstructured news and social items daily, yet naive NLP pipelines produce isolated sentiment polarities without financial risk context.</a:t>
            </a:r>
          </a:p>
          <a:p>
            <a:pPr>
              <a:spcAft>
                <a:spcPts val="600"/>
              </a:spcAft>
              <a:defRPr sz="1050">
                <a:solidFill>
                  <a:srgbClr val="F3F4F6"/>
                </a:solidFill>
              </a:defRPr>
            </a:pPr>
            <a:r>
              <a:t>Key Shortcomings of Naive Approaches:</a:t>
            </a:r>
          </a:p>
          <a:p>
            <a:pPr>
              <a:spcAft>
                <a:spcPts val="600"/>
              </a:spcAft>
              <a:defRPr sz="1000">
                <a:solidFill>
                  <a:srgbClr val="D1D5DB"/>
                </a:solidFill>
              </a:defRPr>
            </a:pPr>
            <a:r>
              <a:t>  • Generic sentiment ignores event severity, source credibility, repetition vs. novelty, and time decay.</a:t>
            </a:r>
          </a:p>
          <a:p>
            <a:pPr>
              <a:spcAft>
                <a:spcPts val="600"/>
              </a:spcAft>
              <a:defRPr sz="1000">
                <a:solidFill>
                  <a:srgbClr val="D1D5DB"/>
                </a:solidFill>
              </a:defRPr>
            </a:pPr>
            <a:r>
              <a:t>  • NLP models rarely interface with actual portfolio risk constraints or stress-testing frameworks.</a:t>
            </a:r>
          </a:p>
          <a:p>
            <a:pPr>
              <a:spcAft>
                <a:spcPts val="600"/>
              </a:spcAft>
              <a:defRPr sz="1050">
                <a:solidFill>
                  <a:srgbClr val="F3F4F6"/>
                </a:solidFill>
              </a:defRPr>
            </a:pPr>
            <a:r>
              <a:t>Our Multi-Tiered Solution Approach:</a:t>
            </a:r>
          </a:p>
          <a:p>
            <a:pPr>
              <a:spcAft>
                <a:spcPts val="600"/>
              </a:spcAft>
              <a:defRPr sz="1000">
                <a:solidFill>
                  <a:srgbClr val="D1D5DB"/>
                </a:solidFill>
              </a:defRPr>
            </a:pPr>
            <a:r>
              <a:t>  • Ingestion &amp; Gating: Dual-stream ingestion (news + social) with SHA-1 deduplication and source reliability weighting.</a:t>
            </a:r>
          </a:p>
          <a:p>
            <a:pPr>
              <a:spcAft>
                <a:spcPts val="600"/>
              </a:spcAft>
              <a:defRPr sz="1000">
                <a:solidFill>
                  <a:srgbClr val="D1D5DB"/>
                </a:solidFill>
              </a:defRPr>
            </a:pPr>
            <a:r>
              <a:t>  • Multi-Factor Risk Quantification: Ordinal 1.0–10.0 impact index combining FinBERT/lexicon sentiment, 14-class event taxonomy, novelty decay, and recency half-life.</a:t>
            </a:r>
          </a:p>
          <a:p>
            <a:pPr>
              <a:spcAft>
                <a:spcPts val="600"/>
              </a:spcAft>
              <a:defRPr sz="1000">
                <a:solidFill>
                  <a:srgbClr val="D1D5DB"/>
                </a:solidFill>
              </a:defRPr>
            </a:pPr>
            <a:r>
              <a:t>  • Dual Downstream Execution: Signals actuate Module A (Tactical Index Rebalancer) and Module B (Wholesale Portfolio Stress Tester).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SLIDE 3 • 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System Architecture &amp; 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CA3AF"/>
                </a:solidFill>
              </a:defRPr>
            </a:pPr>
            <a:r>
              <a:t>Modular, End-to-End Pipeline from Unstructured Ingestion to Risk Execution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698480" cy="4297680"/>
          </a:xfrm>
          <a:prstGeom prst="roundRect">
            <a:avLst/>
          </a:prstGeom>
          <a:solidFill>
            <a:srgbClr val="11182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F3F4F6"/>
                </a:solidFill>
              </a:defRPr>
            </a:pPr>
            <a:r>
              <a:t>1. Ingestion Layer: NewsAPI, Twitter cashtags ($AAPL, $TSLA), GDELT; SHA-1 fingerprinting suppresses duplicate wire feeds.</a:t>
            </a:r>
          </a:p>
          <a:p>
            <a:pPr>
              <a:spcAft>
                <a:spcPts val="600"/>
              </a:spcAft>
              <a:defRPr sz="1000">
                <a:solidFill>
                  <a:srgbClr val="D1D5DB"/>
                </a:solidFill>
              </a:defRPr>
            </a:pPr>
            <a:r>
              <a:t>   Source trust priors: Reuters/Bloomberg 0.95, NewsAPI 0.75, GDELT 0.70, Kaggle-financial 0.80, Tweets 0.40.</a:t>
            </a:r>
          </a:p>
          <a:p>
            <a:pPr>
              <a:spcAft>
                <a:spcPts val="600"/>
              </a:spcAft>
              <a:defRPr sz="1050">
                <a:solidFill>
                  <a:srgbClr val="F3F4F6"/>
                </a:solidFill>
              </a:defRPr>
            </a:pPr>
            <a:r>
              <a:t>2. NLP Extraction: Ticker NER via cashtag + company-alias matching; FinBERT financial sentiment (lexicon fallback); 14-class event taxonomy.</a:t>
            </a:r>
          </a:p>
          <a:p>
            <a:pPr>
              <a:spcAft>
                <a:spcPts val="600"/>
              </a:spcAft>
              <a:defRPr sz="1000">
                <a:solidFill>
                  <a:srgbClr val="D1D5DB"/>
                </a:solidFill>
              </a:defRPr>
            </a:pPr>
            <a:r>
              <a:t>   Event classes: Geopolitical, Macroeconomic, Credit Event, M&amp;A, Earnings, Product Launch, Regulatory, Legal,</a:t>
            </a:r>
          </a:p>
          <a:p>
            <a:pPr>
              <a:spcAft>
                <a:spcPts val="600"/>
              </a:spcAft>
              <a:defRPr sz="1000">
                <a:solidFill>
                  <a:srgbClr val="D1D5DB"/>
                </a:solidFill>
              </a:defRPr>
            </a:pPr>
            <a:r>
              <a:t>   Supply Chain, Management Change, Cybersecurity, Market Shock, Commodity Shock, Other.</a:t>
            </a:r>
          </a:p>
          <a:p>
            <a:pPr>
              <a:spcAft>
                <a:spcPts val="600"/>
              </a:spcAft>
              <a:defRPr sz="1050">
                <a:solidFill>
                  <a:srgbClr val="F3F4F6"/>
                </a:solidFill>
              </a:defRPr>
            </a:pPr>
            <a:r>
              <a:t>3. Multi-Factor Risk Signal Engine:</a:t>
            </a:r>
          </a:p>
          <a:p>
            <a:pPr>
              <a:spcAft>
                <a:spcPts val="600"/>
              </a:spcAft>
              <a:defRPr sz="1000">
                <a:solidFill>
                  <a:srgbClr val="D1D5DB"/>
                </a:solidFill>
              </a:defRPr>
            </a:pPr>
            <a:r>
              <a:t>   raw = (0.60 * severity + 0.40 * |sentiment|) * f_conf * f_rel * f_mkt * f_nov * f_rec</a:t>
            </a:r>
          </a:p>
          <a:p>
            <a:pPr>
              <a:spcAft>
                <a:spcPts val="600"/>
              </a:spcAft>
              <a:defRPr sz="1000">
                <a:solidFill>
                  <a:srgbClr val="D1D5DB"/>
                </a:solidFill>
              </a:defRPr>
            </a:pPr>
            <a:r>
              <a:t>   impact = clamp(1.0 + 9.0 * raw^0.70, 1, 10)   — each f_x ∈ [floor, 1.0]</a:t>
            </a:r>
          </a:p>
          <a:p>
            <a:pPr>
              <a:spcAft>
                <a:spcPts val="600"/>
              </a:spcAft>
              <a:defRPr sz="1050">
                <a:solidFill>
                  <a:srgbClr val="F3F4F6"/>
                </a:solidFill>
              </a:defRPr>
            </a:pPr>
            <a:r>
              <a:t>4. Module A (Portfolio Rebalancer): 20-constituent S&amp;P 100 proxy, live yfinance prices, L1 turnover cap.</a:t>
            </a:r>
          </a:p>
          <a:p>
            <a:pPr>
              <a:spcAft>
                <a:spcPts val="600"/>
              </a:spcAft>
              <a:defRPr sz="1050">
                <a:solidFill>
                  <a:srgbClr val="F3F4F6"/>
                </a:solidFill>
              </a:defRPr>
            </a:pPr>
            <a:r>
              <a:t>5. Module B (Stress Testing): ~$89.92M 20-position banking book; auto-triggers when adverse impact ≥ 7.0.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SLIDE 4 • IMPLEMENTATION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Implementation Highlights &amp; Tech Choices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CA3AF"/>
                </a:solidFill>
              </a:defRPr>
            </a:pPr>
            <a:r>
              <a:t>Built for Reliability, Transparency, and Quantitative Credibility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698480" cy="4297680"/>
          </a:xfrm>
          <a:prstGeom prst="roundRect">
            <a:avLst/>
          </a:prstGeom>
          <a:solidFill>
            <a:srgbClr val="11182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</a:defRPr>
            </a:pPr>
            <a:r>
              <a:t>FastAPI Backend &amp; Strict Pydantic Schemas: Validated data contracts across all pipeline stages; interactive Swagger docs auto-generated.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</a:defRPr>
            </a:pPr>
            <a:r>
              <a:t>FinBERT + Lexicon Hybrid NLP: Transformer-based sentiment when transformers/torch are installed; automatic lexicon fallback otherwise. Both paths produce identical interface contracts.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</a:defRPr>
            </a:pPr>
            <a:r>
              <a:t>Live Market Data (yfinance): Real-time prices, 30-day volatility, and historical returns for the 20-stock S&amp;P 100 universe; transparent simulated fallback when offline.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</a:defRPr>
            </a:pPr>
            <a:r>
              <a:t>Institutional L1 Turnover Budget (Module A): Prevents unrealistic churn by enforcing L1 turnover ≤ 30% (default); configurable per request.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</a:defRPr>
            </a:pPr>
            <a:r>
              <a:t>Multi-Component Stress Transmission (Module B): Equity shock × sector amplifier + duration × Δy (DV01) + credit spread DV01 + stressed EL + FX + commodity vol.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</a:defRPr>
            </a:pPr>
            <a:r>
              <a:t>Full React 18 + TypeScript + Recharts Dashboard: Dark-mode institutional workstation with interactive sandboxes, scenario selectors, and multi-dimensional loss attribution charts.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SLIDE 5 • KEY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Key Quantitative Results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CA3AF"/>
                </a:solidFill>
              </a:defRPr>
            </a:pPr>
            <a:r>
              <a:t>Concrete Outputs, Verified Against 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698480" cy="4297680"/>
          </a:xfrm>
          <a:prstGeom prst="roundRect">
            <a:avLst/>
          </a:prstGeom>
          <a:solidFill>
            <a:srgbClr val="11182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 b="1">
                <a:solidFill>
                  <a:srgbClr val="60A5FA"/>
                </a:solidFill>
              </a:defRPr>
            </a:pPr>
            <a:r>
              <a:t>Test Suite: 165 automated unit &amp; integration tests — 100% passing — covering scoring invariants, NLP correctness, portfolio math, and stress-test accounting.</a:t>
            </a:r>
          </a:p>
          <a:p>
            <a:pPr>
              <a:spcAft>
                <a:spcPts val="600"/>
              </a:spcAft>
              <a:defRPr sz="1050">
                <a:solidFill>
                  <a:srgbClr val="F3F4F6"/>
                </a:solidFill>
              </a:defRPr>
            </a:pPr>
            <a:r>
              <a:t>Module A (Tactical Rebalancing):</a:t>
            </a:r>
          </a:p>
          <a:p>
            <a:pPr>
              <a:spcAft>
                <a:spcPts val="600"/>
              </a:spcAft>
              <a:defRPr sz="1000">
                <a:solidFill>
                  <a:srgbClr val="D1D5DB"/>
                </a:solidFill>
              </a:defRPr>
            </a:pPr>
            <a:r>
              <a:t>  • Rebalances 20-stock S&amp;P 100 proxy using sentiment tilt: w_i ∝ w_base_i × (1 + 0.40 × sentiment_i) × vol_adj_i.</a:t>
            </a:r>
          </a:p>
          <a:p>
            <a:pPr>
              <a:spcAft>
                <a:spcPts val="600"/>
              </a:spcAft>
              <a:defRPr sz="1000">
                <a:solidFill>
                  <a:srgbClr val="D1D5DB"/>
                </a:solidFill>
              </a:defRPr>
            </a:pPr>
            <a:r>
              <a:t>  • Turnover is capped at 30% total (L1 norm); min/max weight bounds [2%, 12%] prevent concentration.</a:t>
            </a:r>
          </a:p>
          <a:p>
            <a:pPr>
              <a:spcAft>
                <a:spcPts val="600"/>
              </a:spcAft>
              <a:defRPr sz="1000">
                <a:solidFill>
                  <a:srgbClr val="D1D5DB"/>
                </a:solidFill>
              </a:defRPr>
            </a:pPr>
            <a:r>
              <a:t>  • Backtest computes cumulative returns vs. equal-weight and cap-weight benchmarks over historical windows.</a:t>
            </a:r>
          </a:p>
          <a:p>
            <a:pPr>
              <a:spcAft>
                <a:spcPts val="600"/>
              </a:spcAft>
              <a:defRPr sz="1050">
                <a:solidFill>
                  <a:srgbClr val="F3F4F6"/>
                </a:solidFill>
              </a:defRPr>
            </a:pPr>
            <a:r>
              <a:t>Module B (Wholesale Portfolio Stress Testing):</a:t>
            </a:r>
          </a:p>
          <a:p>
            <a:pPr>
              <a:spcAft>
                <a:spcPts val="600"/>
              </a:spcAft>
              <a:defRPr sz="1000">
                <a:solidFill>
                  <a:srgbClr val="D1D5DB"/>
                </a:solidFill>
              </a:defRPr>
            </a:pPr>
            <a:r>
              <a:t>  • Stress-tested across a synthetic ~$89.92M 20-position banking book (5 corporate loans, 3 gov bonds,</a:t>
            </a:r>
          </a:p>
          <a:p>
            <a:pPr>
              <a:spcAft>
                <a:spcPts val="600"/>
              </a:spcAft>
              <a:defRPr sz="1000">
                <a:solidFill>
                  <a:srgbClr val="D1D5DB"/>
                </a:solidFill>
              </a:defRPr>
            </a:pPr>
            <a:r>
              <a:t>    4 corporate bonds, 4 equities, 3 derivatives, 1 cash).</a:t>
            </a:r>
          </a:p>
          <a:p>
            <a:pPr>
              <a:spcAft>
                <a:spcPts val="600"/>
              </a:spcAft>
              <a:defRPr sz="1000">
                <a:solidFill>
                  <a:srgbClr val="D1D5DB"/>
                </a:solidFill>
              </a:defRPr>
            </a:pPr>
            <a:r>
              <a:t>  • Illustrative scenario losses: e.g., Geopolitical Escalation (severity 8.5) → position-level shock breakdown.</a:t>
            </a:r>
          </a:p>
          <a:p>
            <a:pPr>
              <a:spcAft>
                <a:spcPts val="600"/>
              </a:spcAft>
              <a:defRPr sz="1000">
                <a:solidFill>
                  <a:srgbClr val="D1D5DB"/>
                </a:solidFill>
              </a:defRPr>
            </a:pPr>
            <a:r>
              <a:t>  • Granular attribution by asset class, sector, geography, and credit rating band (AAA → High-Yield).</a:t>
            </a:r>
          </a:p>
          <a:p>
            <a:pPr>
              <a:spcAft>
                <a:spcPts val="600"/>
              </a:spcAft>
              <a:defRPr sz="1050">
                <a:solidFill>
                  <a:srgbClr val="F3F4F6"/>
                </a:solidFill>
              </a:defRPr>
            </a:pPr>
            <a:r>
              <a:t>Ticker Disambiguation: Test regressions reject 'apple pie', 'amazon rainforest', 'BA flight delayed' as false positives.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SLIDE 6 • DOMAIN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Domain &amp; Business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CA3AF"/>
                </a:solidFill>
              </a:defRPr>
            </a:pPr>
            <a:r>
              <a:t>Empowering Credit Analysts, Risk Officers, and Portfolio Managers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698480" cy="4297680"/>
          </a:xfrm>
          <a:prstGeom prst="roundRect">
            <a:avLst/>
          </a:prstGeom>
          <a:solidFill>
            <a:srgbClr val="11182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F3F4F6"/>
                </a:solidFill>
              </a:defRPr>
            </a:pPr>
            <a:r>
              <a:t>For Credit Rating Agencies &amp; Risk Analysts (Crisil / S&amp;P Global):</a:t>
            </a:r>
          </a:p>
          <a:p>
            <a:pPr>
              <a:spcAft>
                <a:spcPts val="600"/>
              </a:spcAft>
              <a:defRPr sz="1000">
                <a:solidFill>
                  <a:srgbClr val="D1D5DB"/>
                </a:solidFill>
              </a:defRPr>
            </a:pPr>
            <a:r>
              <a:t>  • Replaces manual news monitoring with automated 14-class event classification and early-warning triggers.</a:t>
            </a:r>
          </a:p>
          <a:p>
            <a:pPr>
              <a:spcAft>
                <a:spcPts val="600"/>
              </a:spcAft>
              <a:defRPr sz="1000">
                <a:solidFill>
                  <a:srgbClr val="D1D5DB"/>
                </a:solidFill>
              </a:defRPr>
            </a:pPr>
            <a:r>
              <a:t>  • Breaking headlines propagate into wholesale book stress tests without waiting for quarterly reviews.</a:t>
            </a:r>
          </a:p>
          <a:p>
            <a:pPr>
              <a:spcAft>
                <a:spcPts val="600"/>
              </a:spcAft>
              <a:defRPr sz="1050">
                <a:solidFill>
                  <a:srgbClr val="F3F4F6"/>
                </a:solidFill>
              </a:defRPr>
            </a:pPr>
            <a:r>
              <a:t>For Asset Managers &amp; Index Funds:</a:t>
            </a:r>
          </a:p>
          <a:p>
            <a:pPr>
              <a:spcAft>
                <a:spcPts val="600"/>
              </a:spcAft>
              <a:defRPr sz="1000">
                <a:solidFill>
                  <a:srgbClr val="D1D5DB"/>
                </a:solidFill>
              </a:defRPr>
            </a:pPr>
            <a:r>
              <a:t>  • Sentiment tilting allows capturing momentum or hedging against adverse corporate announcements within strict turnover envelopes.</a:t>
            </a:r>
          </a:p>
          <a:p>
            <a:pPr>
              <a:spcAft>
                <a:spcPts val="600"/>
              </a:spcAft>
              <a:defRPr sz="1050">
                <a:solidFill>
                  <a:srgbClr val="F3F4F6"/>
                </a:solidFill>
              </a:defRPr>
            </a:pPr>
            <a:r>
              <a:t>For Regulatory Compliance &amp; Governance:</a:t>
            </a:r>
          </a:p>
          <a:p>
            <a:pPr>
              <a:spcAft>
                <a:spcPts val="600"/>
              </a:spcAft>
              <a:defRPr sz="1000">
                <a:solidFill>
                  <a:srgbClr val="D1D5DB"/>
                </a:solidFill>
              </a:defRPr>
            </a:pPr>
            <a:r>
              <a:t>  • Full auditability: Every weight shift or stress dollar loss traces back to raw source text, SHA-1 fingerprint, and mathematical factor decomposition.</a:t>
            </a:r>
          </a:p>
          <a:p>
            <a:pPr>
              <a:spcAft>
                <a:spcPts val="600"/>
              </a:spcAft>
              <a:defRPr sz="1000">
                <a:solidFill>
                  <a:srgbClr val="D1D5DB"/>
                </a:solidFill>
              </a:defRPr>
            </a:pPr>
            <a:r>
              <a:t>  • Transparent simulated data labels: every synthetic record is marked simulated=True in the API response.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SLIDE 7 • LIMITATIONS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Limitations, Assumptions &amp; Future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CA3AF"/>
                </a:solidFill>
              </a:defRPr>
            </a:pPr>
            <a:r>
              <a:t>Honest Engineering Disclosures &amp; Scalability Pathways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698480" cy="4297680"/>
          </a:xfrm>
          <a:prstGeom prst="roundRect">
            <a:avLst/>
          </a:prstGeom>
          <a:solidFill>
            <a:srgbClr val="11182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F3F4F6"/>
                </a:solidFill>
              </a:defRPr>
            </a:pPr>
            <a:r>
              <a:t>Current Assumptions &amp; Scope:</a:t>
            </a:r>
          </a:p>
          <a:p>
            <a:pPr>
              <a:spcAft>
                <a:spcPts val="600"/>
              </a:spcAft>
              <a:defRPr sz="1000">
                <a:solidFill>
                  <a:srgbClr val="D1D5DB"/>
                </a:solidFill>
              </a:defRPr>
            </a:pPr>
            <a:r>
              <a:t>  • 20-stock S&amp;P 100 proxy — not a full production index; chosen to stay within API quota and latency budgets.</a:t>
            </a:r>
          </a:p>
          <a:p>
            <a:pPr>
              <a:spcAft>
                <a:spcPts val="600"/>
              </a:spcAft>
              <a:defRPr sz="1000">
                <a:solidFill>
                  <a:srgbClr val="D1D5DB"/>
                </a:solidFill>
              </a:defRPr>
            </a:pPr>
            <a:r>
              <a:t>  • Impact scores are ordinal severity indices (1.0–10.0), NOT price forecasts or calibrated probabilities.</a:t>
            </a:r>
          </a:p>
          <a:p>
            <a:pPr>
              <a:spcAft>
                <a:spcPts val="600"/>
              </a:spcAft>
              <a:defRPr sz="1000">
                <a:solidFill>
                  <a:srgbClr val="D1D5DB"/>
                </a:solidFill>
              </a:defRPr>
            </a:pPr>
            <a:r>
              <a:t>  • Module B banking positions are synthetic — illustrative of institutional structure, not real trades.</a:t>
            </a:r>
          </a:p>
          <a:p>
            <a:pPr>
              <a:spcAft>
                <a:spcPts val="600"/>
              </a:spcAft>
              <a:defRPr sz="1000">
                <a:solidFill>
                  <a:srgbClr val="D1D5DB"/>
                </a:solidFill>
              </a:defRPr>
            </a:pPr>
            <a:r>
              <a:t>  • FinBERT requires torch + transformers; default install uses lexicon fallback (clearly disclosed at /health).</a:t>
            </a:r>
          </a:p>
          <a:p>
            <a:pPr>
              <a:spcAft>
                <a:spcPts val="600"/>
              </a:spcAft>
              <a:defRPr sz="1000">
                <a:solidFill>
                  <a:srgbClr val="D1D5DB"/>
                </a:solidFill>
              </a:defRPr>
            </a:pPr>
            <a:r>
              <a:t>  • Stress correlations between shocks are not modeled (shocks applied independently per position).</a:t>
            </a:r>
          </a:p>
          <a:p>
            <a:pPr>
              <a:spcAft>
                <a:spcPts val="600"/>
              </a:spcAft>
              <a:defRPr sz="1050">
                <a:solidFill>
                  <a:srgbClr val="F3F4F6"/>
                </a:solidFill>
              </a:defRPr>
            </a:pPr>
            <a:r>
              <a:t>Future Roadmap:</a:t>
            </a:r>
          </a:p>
          <a:p>
            <a:pPr>
              <a:spcAft>
                <a:spcPts val="600"/>
              </a:spcAft>
              <a:defRPr sz="1000">
                <a:solidFill>
                  <a:srgbClr val="D1D5DB"/>
                </a:solidFill>
              </a:defRPr>
            </a:pPr>
            <a:r>
              <a:t>  • Scale to full S&amp;P 500 / Russell 1000 with real-time WebSocket streaming from Bloomberg / FactSet.</a:t>
            </a:r>
          </a:p>
          <a:p>
            <a:pPr>
              <a:spcAft>
                <a:spcPts val="600"/>
              </a:spcAft>
              <a:defRPr sz="1000">
                <a:solidFill>
                  <a:srgbClr val="D1D5DB"/>
                </a:solidFill>
              </a:defRPr>
            </a:pPr>
            <a:r>
              <a:t>  • Multi-lingual transformer models for international sovereign risk monitoring.</a:t>
            </a:r>
          </a:p>
          <a:p>
            <a:pPr>
              <a:spcAft>
                <a:spcPts val="600"/>
              </a:spcAft>
              <a:defRPr sz="1000">
                <a:solidFill>
                  <a:srgbClr val="D1D5DB"/>
                </a:solidFill>
              </a:defRPr>
            </a:pPr>
            <a:r>
              <a:t>  • Quadratic programming optimizer (Markowitz mean-variance with covariance shrinkage) for Module A.</a:t>
            </a:r>
          </a:p>
          <a:p>
            <a:pPr>
              <a:spcAft>
                <a:spcPts val="600"/>
              </a:spcAft>
              <a:defRPr sz="1000">
                <a:solidFill>
                  <a:srgbClr val="D1D5DB"/>
                </a:solidFill>
              </a:defRPr>
            </a:pPr>
            <a:r>
              <a:t>  • Correlation matrix between shock factors for Module B (Cholesky decomposition).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